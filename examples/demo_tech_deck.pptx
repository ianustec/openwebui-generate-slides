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C99A3B"/>
            </a:solidFill>
          </c:spPr>
          <c:cat>
            <c:strRef>
              <c:f>Sheet1!$A$2:$A$5</c:f>
              <c:strCache>
                <c:ptCount val="4"/>
                <c:pt idx="0">
                  <c:v>RTX 4090</c:v>
                </c:pt>
                <c:pt idx="1">
                  <c:v>L40S</c:v>
                </c:pt>
                <c:pt idx="2">
                  <c:v>A100 80GB</c:v>
                </c:pt>
                <c:pt idx="3">
                  <c:v>H100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78.0</c:v>
                </c:pt>
                <c:pt idx="1">
                  <c:v>96.0</c:v>
                </c:pt>
                <c:pt idx="2">
                  <c:v>132.0</c:v>
                </c:pt>
                <c:pt idx="3">
                  <c:v>210.0</c:v>
                </c:pt>
              </c:numCache>
            </c:numRef>
          </c:val>
        </c:ser>
        <c:dLbls>
          <c:numFmt formatCode="General" sourceLinked="0"/>
          <c:txPr>
            <a:bodyPr/>
            <a:lstStyle/>
            <a:p>
              <a:pPr>
                <a:defRPr sz="1000">
                  <a:solidFill>
                    <a:srgbClr val="1A1A2E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1000">
                <a:solidFill>
                  <a:srgbClr val="444C70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E4E7EC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444C70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Self-hosted</c:v>
                </c:pt>
              </c:strCache>
            </c:strRef>
          </c:tx>
          <c:spPr>
            <a:solidFill>
              <a:srgbClr val="C99A3B"/>
            </a:solidFill>
            <a:ln w="31750">
              <a:solidFill>
                <a:srgbClr val="C99A3B"/>
              </a:solidFill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4200.0</c:v>
                </c:pt>
                <c:pt idx="1">
                  <c:v>4200.0</c:v>
                </c:pt>
                <c:pt idx="2">
                  <c:v>4400.0</c:v>
                </c:pt>
                <c:pt idx="3">
                  <c:v>4400.0</c:v>
                </c:pt>
              </c:numCache>
            </c:numRef>
          </c:val>
          <c:smooth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Hosted API</c:v>
                </c:pt>
              </c:strCache>
            </c:strRef>
          </c:tx>
          <c:spPr>
            <a:solidFill>
              <a:srgbClr val="1E2761"/>
            </a:solidFill>
            <a:ln w="31750">
              <a:solidFill>
                <a:srgbClr val="1E2761"/>
              </a:solidFill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3100.0</c:v>
                </c:pt>
                <c:pt idx="1">
                  <c:v>5200.0</c:v>
                </c:pt>
                <c:pt idx="2">
                  <c:v>8600.0</c:v>
                </c:pt>
                <c:pt idx="3">
                  <c:v>13800.0</c:v>
                </c:pt>
              </c:numCache>
            </c:numRef>
          </c:val>
          <c:smooth/>
        </c:ser>
        <c:dLbls>
          <c:numFmt formatCode="General" sourceLinked="0"/>
          <c:txPr>
            <a:bodyPr/>
            <a:lstStyle/>
            <a:p>
              <a:pPr>
                <a:defRPr sz="1000">
                  <a:solidFill>
                    <a:srgbClr val="1A1A2E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1000">
                <a:solidFill>
                  <a:srgbClr val="444C70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7EC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444C70"/>
                </a:solidFill>
                <a:latin typeface="Calibri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>
              <a:solidFill>
                <a:srgbClr val="444C70"/>
              </a:solidFill>
              <a:latin typeface="Calibr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A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265615" y="-1828800"/>
            <a:ext cx="5120640" cy="5120640"/>
          </a:xfrm>
          <a:prstGeom prst="ellipse">
            <a:avLst/>
          </a:prstGeom>
          <a:solidFill>
            <a:srgbClr val="272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185855" y="3840480"/>
            <a:ext cx="3108960" cy="3108960"/>
          </a:xfrm>
          <a:prstGeom prst="ellipse">
            <a:avLst/>
          </a:prstGeom>
          <a:solidFill>
            <a:srgbClr val="202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168335" y="4754880"/>
            <a:ext cx="1645920" cy="1645920"/>
          </a:xfrm>
          <a:prstGeom prst="ellipse">
            <a:avLst/>
          </a:prstGeom>
          <a:solidFill>
            <a:srgbClr val="C99A3B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6928" y="640080"/>
            <a:ext cx="868680" cy="868680"/>
          </a:xfrm>
          <a:prstGeom prst="ellipse">
            <a:avLst/>
          </a:prstGeom>
          <a:solidFill>
            <a:srgbClr val="30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158" y="883310"/>
            <a:ext cx="382219" cy="38221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1783080"/>
            <a:ext cx="1105783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spc="220">
                <a:solidFill>
                  <a:srgbClr val="C99A3B"/>
                </a:solidFill>
                <a:latin typeface="Calibri"/>
              </a:rPr>
              <a:t>TECH BRIEF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148840"/>
            <a:ext cx="79552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4200" b="1">
                <a:solidFill>
                  <a:srgbClr val="FFFFFF"/>
                </a:solidFill>
                <a:latin typeface="Georgia"/>
              </a:rPr>
              <a:t>Self-Hosted AI in Production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343400"/>
            <a:ext cx="76809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>
                <a:solidFill>
                  <a:srgbClr val="BDBFCB"/>
                </a:solidFill>
                <a:latin typeface="Calibri"/>
              </a:rPr>
              <a:t>How teams ship local LLMs with Open WebUI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5532120"/>
            <a:ext cx="1344168" cy="457200"/>
          </a:xfrm>
          <a:prstGeom prst="roundRect">
            <a:avLst>
              <a:gd name="adj" fmla="val 50000"/>
            </a:avLst>
          </a:prstGeom>
          <a:solidFill>
            <a:srgbClr val="30355B"/>
          </a:solidFill>
          <a:ln w="12700">
            <a:solidFill>
              <a:srgbClr val="48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5532120"/>
            <a:ext cx="134416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>
                <a:solidFill>
                  <a:srgbClr val="BDBFCB"/>
                </a:solidFill>
                <a:latin typeface="Calibri"/>
              </a:rPr>
              <a:t>Local LLMs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075688" y="5532120"/>
            <a:ext cx="1577340" cy="457200"/>
          </a:xfrm>
          <a:prstGeom prst="roundRect">
            <a:avLst>
              <a:gd name="adj" fmla="val 50000"/>
            </a:avLst>
          </a:prstGeom>
          <a:solidFill>
            <a:srgbClr val="30355B"/>
          </a:solidFill>
          <a:ln w="12700">
            <a:solidFill>
              <a:srgbClr val="48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75688" y="5532120"/>
            <a:ext cx="15773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>
                <a:solidFill>
                  <a:srgbClr val="BDBFCB"/>
                </a:solidFill>
                <a:latin typeface="Calibri"/>
              </a:rPr>
              <a:t>Privacy-first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17620" y="5532120"/>
            <a:ext cx="1421892" cy="457200"/>
          </a:xfrm>
          <a:prstGeom prst="roundRect">
            <a:avLst>
              <a:gd name="adj" fmla="val 50000"/>
            </a:avLst>
          </a:prstGeom>
          <a:solidFill>
            <a:srgbClr val="30355B"/>
          </a:solidFill>
          <a:ln w="12700">
            <a:solidFill>
              <a:srgbClr val="48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17620" y="5532120"/>
            <a:ext cx="142189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>
                <a:solidFill>
                  <a:srgbClr val="BDBFCB"/>
                </a:solidFill>
                <a:latin typeface="Calibri"/>
              </a:rPr>
              <a:t>Open source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35508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>
                <a:solidFill>
                  <a:srgbClr val="8A8CA2"/>
                </a:solidFill>
                <a:latin typeface="Calibri"/>
              </a:rPr>
              <a:t>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A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814255" y="-1463040"/>
            <a:ext cx="4206240" cy="4206240"/>
          </a:xfrm>
          <a:prstGeom prst="ellipse">
            <a:avLst/>
          </a:prstGeom>
          <a:solidFill>
            <a:srgbClr val="24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554480"/>
            <a:ext cx="27432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600" b="1">
                <a:solidFill>
                  <a:srgbClr val="C99A3B"/>
                </a:solidFill>
                <a:latin typeface="Georgia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108960"/>
            <a:ext cx="1105783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spc="220">
                <a:solidFill>
                  <a:srgbClr val="C99A3B"/>
                </a:solidFill>
                <a:latin typeface="Calibri"/>
              </a:rPr>
              <a:t>PART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3429000"/>
            <a:ext cx="96012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Georgia"/>
              </a:rPr>
              <a:t>Why self-host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892040"/>
            <a:ext cx="8686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400">
                <a:solidFill>
                  <a:srgbClr val="BDBFCB"/>
                </a:solidFill>
                <a:latin typeface="Calibri"/>
              </a:rPr>
              <a:t>Control, privacy and cost at scale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spc="120">
                <a:solidFill>
                  <a:srgbClr val="8A8CA2"/>
                </a:solidFill>
                <a:latin typeface="Calibri"/>
              </a:rPr>
              <a:t>IANUSTEC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93247" y="641908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>
                <a:solidFill>
                  <a:srgbClr val="8A8CA2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566928"/>
            <a:ext cx="1105783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spc="220">
                <a:solidFill>
                  <a:srgbClr val="C99A3B"/>
                </a:solidFill>
                <a:latin typeface="Calibri"/>
              </a:rPr>
              <a:t>PART I —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96112"/>
            <a:ext cx="110578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000" b="1">
                <a:solidFill>
                  <a:srgbClr val="1A1A2E"/>
                </a:solidFill>
                <a:latin typeface="Georgia"/>
              </a:rPr>
              <a:t>The case in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spc="120">
                <a:solidFill>
                  <a:srgbClr val="9AA0AB"/>
                </a:solidFill>
                <a:latin typeface="Calibri"/>
              </a:rPr>
              <a:t>IANUSTEC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93247" y="641908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>
                <a:solidFill>
                  <a:srgbClr val="9AA0AB"/>
                </a:solidFill>
                <a:latin typeface="Calibri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084831"/>
            <a:ext cx="3442106" cy="2468880"/>
          </a:xfrm>
          <a:prstGeom prst="roundRect">
            <a:avLst>
              <a:gd name="adj" fmla="val 6000"/>
            </a:avLst>
          </a:prstGeom>
          <a:solidFill>
            <a:srgbClr val="F5F5F8"/>
          </a:solidFill>
          <a:ln w="12700">
            <a:solidFill>
              <a:srgbClr val="E0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2496312"/>
            <a:ext cx="2893466" cy="914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C99A3B"/>
                </a:solidFill>
                <a:latin typeface="Georgia"/>
              </a:rPr>
              <a:t>-63%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3502152"/>
            <a:ext cx="289346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>
                <a:solidFill>
                  <a:srgbClr val="444C70"/>
                </a:solidFill>
                <a:latin typeface="Calibri"/>
              </a:rPr>
              <a:t>Inference cost vs. hosted APIs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4096512"/>
            <a:ext cx="289346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1">
                <a:solidFill>
                  <a:srgbClr val="C99A3B"/>
                </a:solidFill>
                <a:latin typeface="Calibri"/>
              </a:rPr>
              <a:t>▲ at scale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4794" y="2084831"/>
            <a:ext cx="3442106" cy="2468880"/>
          </a:xfrm>
          <a:prstGeom prst="roundRect">
            <a:avLst>
              <a:gd name="adj" fmla="val 6000"/>
            </a:avLst>
          </a:prstGeom>
          <a:solidFill>
            <a:srgbClr val="F5F5F8"/>
          </a:solidFill>
          <a:ln w="12700">
            <a:solidFill>
              <a:srgbClr val="E0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49114" y="2496312"/>
            <a:ext cx="2893466" cy="914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C99A3B"/>
                </a:solidFill>
                <a:latin typeface="Georgia"/>
              </a:rPr>
              <a:t>100%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9114" y="3502152"/>
            <a:ext cx="289346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>
                <a:solidFill>
                  <a:srgbClr val="444C70"/>
                </a:solidFill>
                <a:latin typeface="Calibri"/>
              </a:rPr>
              <a:t>Data stays on your infra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9114" y="4096512"/>
            <a:ext cx="289346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1">
                <a:solidFill>
                  <a:srgbClr val="C99A3B"/>
                </a:solidFill>
                <a:latin typeface="Calibri"/>
              </a:rPr>
              <a:t>▲ no egress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2660" y="2084831"/>
            <a:ext cx="3442106" cy="2468880"/>
          </a:xfrm>
          <a:prstGeom prst="roundRect">
            <a:avLst>
              <a:gd name="adj" fmla="val 6000"/>
            </a:avLst>
          </a:prstGeom>
          <a:solidFill>
            <a:srgbClr val="F5F5F8"/>
          </a:solidFill>
          <a:ln w="12700">
            <a:solidFill>
              <a:srgbClr val="E0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56980" y="2496312"/>
            <a:ext cx="2893466" cy="914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C99A3B"/>
                </a:solidFill>
                <a:latin typeface="Georgia"/>
              </a:rPr>
              <a:t>8ms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6980" y="3502152"/>
            <a:ext cx="289346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>
                <a:solidFill>
                  <a:srgbClr val="444C70"/>
                </a:solidFill>
                <a:latin typeface="Calibri"/>
              </a:rPr>
              <a:t>Median network hop (LAN)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6980" y="4096512"/>
            <a:ext cx="289346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1">
                <a:solidFill>
                  <a:srgbClr val="C99A3B"/>
                </a:solidFill>
                <a:latin typeface="Calibri"/>
              </a:rPr>
              <a:t>▲ vs 120ms cloud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731520"/>
            <a:ext cx="110578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000" b="1">
                <a:solidFill>
                  <a:srgbClr val="1A1A2E"/>
                </a:solidFill>
                <a:latin typeface="Georgia"/>
              </a:rPr>
              <a:t>What you gain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19088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spc="120">
                <a:solidFill>
                  <a:srgbClr val="9AA0AB"/>
                </a:solidFill>
                <a:latin typeface="Calibri"/>
              </a:rPr>
              <a:t>IANUSTEC ·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93247" y="641908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>
                <a:solidFill>
                  <a:srgbClr val="9AA0AB"/>
                </a:solidFill>
                <a:latin typeface="Calibri"/>
              </a:rPr>
              <a:t>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828800"/>
            <a:ext cx="3472586" cy="4498848"/>
          </a:xfrm>
          <a:prstGeom prst="roundRect">
            <a:avLst>
              <a:gd name="adj" fmla="val 6000"/>
            </a:avLst>
          </a:prstGeom>
          <a:solidFill>
            <a:srgbClr val="F5F5F8"/>
          </a:solidFill>
          <a:ln w="12700">
            <a:solidFill>
              <a:srgbClr val="E0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41247" y="2103120"/>
            <a:ext cx="603504" cy="603504"/>
          </a:xfrm>
          <a:prstGeom prst="ellipse">
            <a:avLst/>
          </a:prstGeom>
          <a:solidFill>
            <a:srgbClr val="F5E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229" y="2272101"/>
            <a:ext cx="265541" cy="26554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41247" y="2852927"/>
            <a:ext cx="2923946" cy="3401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300"/>
              </a:spcAft>
            </a:pPr>
            <a:r>
              <a:rPr sz="1500" b="1">
                <a:solidFill>
                  <a:srgbClr val="1A1A2E"/>
                </a:solidFill>
                <a:latin typeface="Georgia"/>
              </a:rPr>
              <a:t>Data control</a:t>
            </a:r>
          </a:p>
          <a:p>
            <a:pPr>
              <a:lnSpc>
                <a:spcPct val="124000"/>
              </a:lnSpc>
              <a:spcAft>
                <a:spcPts val="0"/>
              </a:spcAft>
            </a:pPr>
            <a:r>
              <a:rPr sz="1150">
                <a:solidFill>
                  <a:srgbClr val="444C70"/>
                </a:solidFill>
                <a:latin typeface="Calibri"/>
              </a:rPr>
              <a:t>Prompts and documents never leave your network.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59554" y="1828800"/>
            <a:ext cx="3472586" cy="4498848"/>
          </a:xfrm>
          <a:prstGeom prst="roundRect">
            <a:avLst>
              <a:gd name="adj" fmla="val 6000"/>
            </a:avLst>
          </a:prstGeom>
          <a:solidFill>
            <a:srgbClr val="F5F5F8"/>
          </a:solidFill>
          <a:ln w="12700">
            <a:solidFill>
              <a:srgbClr val="E0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633874" y="2103120"/>
            <a:ext cx="603504" cy="603504"/>
          </a:xfrm>
          <a:prstGeom prst="ellipse">
            <a:avLst/>
          </a:prstGeom>
          <a:solidFill>
            <a:srgbClr val="F5E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2855" y="2272101"/>
            <a:ext cx="265541" cy="26554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633874" y="2852927"/>
            <a:ext cx="2923946" cy="3401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300"/>
              </a:spcAft>
            </a:pPr>
            <a:r>
              <a:rPr sz="1500" b="1">
                <a:solidFill>
                  <a:srgbClr val="1A1A2E"/>
                </a:solidFill>
                <a:latin typeface="Georgia"/>
              </a:rPr>
              <a:t>Predictable cost</a:t>
            </a:r>
          </a:p>
          <a:p>
            <a:pPr>
              <a:lnSpc>
                <a:spcPct val="124000"/>
              </a:lnSpc>
              <a:spcAft>
                <a:spcPts val="0"/>
              </a:spcAft>
            </a:pPr>
            <a:r>
              <a:rPr sz="1150">
                <a:solidFill>
                  <a:srgbClr val="444C70"/>
                </a:solidFill>
                <a:latin typeface="Calibri"/>
              </a:rPr>
              <a:t>Fixed GPU spend instead of per-token billing.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52180" y="1828800"/>
            <a:ext cx="3472586" cy="4498848"/>
          </a:xfrm>
          <a:prstGeom prst="roundRect">
            <a:avLst>
              <a:gd name="adj" fmla="val 6000"/>
            </a:avLst>
          </a:prstGeom>
          <a:solidFill>
            <a:srgbClr val="F5F5F8"/>
          </a:solidFill>
          <a:ln w="12700">
            <a:solidFill>
              <a:srgbClr val="E0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426500" y="2103120"/>
            <a:ext cx="603504" cy="603504"/>
          </a:xfrm>
          <a:prstGeom prst="ellipse">
            <a:avLst/>
          </a:prstGeom>
          <a:solidFill>
            <a:srgbClr val="F5E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481" y="2272101"/>
            <a:ext cx="265541" cy="26554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426500" y="2852927"/>
            <a:ext cx="2923946" cy="3401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300"/>
              </a:spcAft>
            </a:pPr>
            <a:r>
              <a:rPr sz="1500" b="1">
                <a:solidFill>
                  <a:srgbClr val="1A1A2E"/>
                </a:solidFill>
                <a:latin typeface="Georgia"/>
              </a:rPr>
              <a:t>Full customization</a:t>
            </a:r>
          </a:p>
          <a:p>
            <a:pPr>
              <a:lnSpc>
                <a:spcPct val="124000"/>
              </a:lnSpc>
              <a:spcAft>
                <a:spcPts val="0"/>
              </a:spcAft>
            </a:pPr>
            <a:r>
              <a:rPr sz="1150">
                <a:solidFill>
                  <a:srgbClr val="444C70"/>
                </a:solidFill>
                <a:latin typeface="Calibri"/>
              </a:rPr>
              <a:t>Swap models, add tools, tune the stack.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566928"/>
            <a:ext cx="1105783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spc="220">
                <a:solidFill>
                  <a:srgbClr val="C99A3B"/>
                </a:solidFill>
                <a:latin typeface="Calibri"/>
              </a:rPr>
              <a:t>PART I — TRADE-OFFS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96112"/>
            <a:ext cx="110578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000" b="1">
                <a:solidFill>
                  <a:srgbClr val="1A1A2E"/>
                </a:solidFill>
                <a:latin typeface="Georgia"/>
              </a:rPr>
              <a:t>Local vs. Hosted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spc="120">
                <a:solidFill>
                  <a:srgbClr val="9AA0AB"/>
                </a:solidFill>
                <a:latin typeface="Calibri"/>
              </a:rPr>
              <a:t>IANUSTEC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93247" y="641908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>
                <a:solidFill>
                  <a:srgbClr val="9AA0AB"/>
                </a:solidFill>
                <a:latin typeface="Calibri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993391"/>
            <a:ext cx="5346039" cy="4197096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>
            <a:outerShdw blurRad="127000" dist="38100" dir="5400000" rotWithShape="0">
              <a:srgbClr val="1A1A2E">
                <a:alpha val="6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462707" y="1828799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C9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62707" y="1828799"/>
            <a:ext cx="15544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spc="120">
                <a:solidFill>
                  <a:srgbClr val="FFFFFF"/>
                </a:solidFill>
                <a:latin typeface="Calibri"/>
              </a:rPr>
              <a:t>RECOMMENDED</a:t>
            </a:r>
          </a:p>
        </p:txBody>
      </p:sp>
      <p:sp>
        <p:nvSpPr>
          <p:cNvPr id="9" name="Oval 8"/>
          <p:cNvSpPr/>
          <p:nvPr/>
        </p:nvSpPr>
        <p:spPr>
          <a:xfrm>
            <a:off x="896112" y="2322575"/>
            <a:ext cx="603504" cy="603504"/>
          </a:xfrm>
          <a:prstGeom prst="ellipse">
            <a:avLst/>
          </a:prstGeom>
          <a:solidFill>
            <a:srgbClr val="3E45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093" y="2491557"/>
            <a:ext cx="265541" cy="26554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700784" y="2322575"/>
            <a:ext cx="3882999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Georgia"/>
              </a:rPr>
              <a:t>Self-hosted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3218687"/>
            <a:ext cx="4687671" cy="2734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19456" indent="-164592">
              <a:lnSpc>
                <a:spcPct val="112000"/>
              </a:lnSpc>
              <a:spcAft>
                <a:spcPts val="600"/>
              </a:spcAft>
              <a:buClr>
                <a:srgbClr val="CADCFC"/>
              </a:buClr>
              <a:buSzPct val="90000"/>
              <a:buFont typeface="Arial"/>
              <a:buChar char="●"/>
            </a:pPr>
            <a:r>
              <a:rPr sz="1200">
                <a:solidFill>
                  <a:srgbClr val="BDBFCB"/>
                </a:solidFill>
                <a:latin typeface="Calibri"/>
              </a:rPr>
              <a:t>Data sovereignty</a:t>
            </a:r>
          </a:p>
          <a:p>
            <a:pPr marL="219456" indent="-164592">
              <a:lnSpc>
                <a:spcPct val="112000"/>
              </a:lnSpc>
              <a:spcAft>
                <a:spcPts val="600"/>
              </a:spcAft>
              <a:buClr>
                <a:srgbClr val="CADCFC"/>
              </a:buClr>
              <a:buSzPct val="90000"/>
              <a:buFont typeface="Arial"/>
              <a:buChar char="●"/>
            </a:pPr>
            <a:r>
              <a:rPr sz="1200">
                <a:solidFill>
                  <a:srgbClr val="BDBFCB"/>
                </a:solidFill>
                <a:latin typeface="Calibri"/>
              </a:rPr>
              <a:t>Flat GPU cost</a:t>
            </a:r>
          </a:p>
          <a:p>
            <a:pPr marL="219456" indent="-164592">
              <a:lnSpc>
                <a:spcPct val="112000"/>
              </a:lnSpc>
              <a:spcAft>
                <a:spcPts val="600"/>
              </a:spcAft>
              <a:buClr>
                <a:srgbClr val="CADCFC"/>
              </a:buClr>
              <a:buSzPct val="90000"/>
              <a:buFont typeface="Arial"/>
              <a:buChar char="●"/>
            </a:pPr>
            <a:r>
              <a:rPr sz="1200">
                <a:solidFill>
                  <a:srgbClr val="BDBFCB"/>
                </a:solidFill>
                <a:latin typeface="Calibri"/>
              </a:rPr>
              <a:t>Offline capable</a:t>
            </a:r>
          </a:p>
          <a:p>
            <a:pPr marL="219456" indent="-164592">
              <a:lnSpc>
                <a:spcPct val="112000"/>
              </a:lnSpc>
              <a:spcAft>
                <a:spcPts val="600"/>
              </a:spcAft>
              <a:buClr>
                <a:srgbClr val="CADCFC"/>
              </a:buClr>
              <a:buSzPct val="90000"/>
              <a:buFont typeface="Arial"/>
              <a:buChar char="●"/>
            </a:pPr>
            <a:r>
              <a:rPr sz="1200">
                <a:solidFill>
                  <a:srgbClr val="BDBFCB"/>
                </a:solidFill>
                <a:latin typeface="Calibri"/>
              </a:rPr>
              <a:t>Model freedom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78727" y="1993391"/>
            <a:ext cx="5346039" cy="4197096"/>
          </a:xfrm>
          <a:prstGeom prst="roundRect">
            <a:avLst>
              <a:gd name="adj" fmla="val 6000"/>
            </a:avLst>
          </a:prstGeom>
          <a:solidFill>
            <a:srgbClr val="F5F5F8"/>
          </a:solidFill>
          <a:ln w="12700">
            <a:solidFill>
              <a:srgbClr val="E0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607911" y="2322575"/>
            <a:ext cx="603504" cy="603504"/>
          </a:xfrm>
          <a:prstGeom prst="ellipse">
            <a:avLst/>
          </a:prstGeom>
          <a:solidFill>
            <a:srgbClr val="F5E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6892" y="2491557"/>
            <a:ext cx="265541" cy="26554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412583" y="2322575"/>
            <a:ext cx="3882999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1900" b="1">
                <a:solidFill>
                  <a:srgbClr val="1A1A2E"/>
                </a:solidFill>
                <a:latin typeface="Georgia"/>
              </a:rPr>
              <a:t>Hosted 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07911" y="3218687"/>
            <a:ext cx="4687671" cy="2734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19456" indent="-164592">
              <a:lnSpc>
                <a:spcPct val="112000"/>
              </a:lnSpc>
              <a:spcAft>
                <a:spcPts val="600"/>
              </a:spcAft>
              <a:buClr>
                <a:srgbClr val="C99A3B"/>
              </a:buClr>
              <a:buSzPct val="90000"/>
              <a:buFont typeface="Arial"/>
              <a:buChar char="●"/>
            </a:pPr>
            <a:r>
              <a:rPr sz="1200">
                <a:solidFill>
                  <a:srgbClr val="444C70"/>
                </a:solidFill>
                <a:latin typeface="Calibri"/>
              </a:rPr>
              <a:t>Zero ops</a:t>
            </a:r>
          </a:p>
          <a:p>
            <a:pPr marL="219456" indent="-164592">
              <a:lnSpc>
                <a:spcPct val="112000"/>
              </a:lnSpc>
              <a:spcAft>
                <a:spcPts val="600"/>
              </a:spcAft>
              <a:buClr>
                <a:srgbClr val="C99A3B"/>
              </a:buClr>
              <a:buSzPct val="90000"/>
              <a:buFont typeface="Arial"/>
              <a:buChar char="●"/>
            </a:pPr>
            <a:r>
              <a:rPr sz="1200">
                <a:solidFill>
                  <a:srgbClr val="444C70"/>
                </a:solidFill>
                <a:latin typeface="Calibri"/>
              </a:rPr>
              <a:t>Instant scale</a:t>
            </a:r>
          </a:p>
          <a:p>
            <a:pPr marL="219456" indent="-164592">
              <a:lnSpc>
                <a:spcPct val="112000"/>
              </a:lnSpc>
              <a:spcAft>
                <a:spcPts val="600"/>
              </a:spcAft>
              <a:buClr>
                <a:srgbClr val="C99A3B"/>
              </a:buClr>
              <a:buSzPct val="90000"/>
              <a:buFont typeface="Arial"/>
              <a:buChar char="●"/>
            </a:pPr>
            <a:r>
              <a:rPr sz="1200">
                <a:solidFill>
                  <a:srgbClr val="444C70"/>
                </a:solidFill>
                <a:latin typeface="Calibri"/>
              </a:rPr>
              <a:t>Latest frontier models</a:t>
            </a:r>
          </a:p>
          <a:p>
            <a:pPr marL="219456" indent="-164592">
              <a:lnSpc>
                <a:spcPct val="112000"/>
              </a:lnSpc>
              <a:spcAft>
                <a:spcPts val="600"/>
              </a:spcAft>
              <a:buClr>
                <a:srgbClr val="C99A3B"/>
              </a:buClr>
              <a:buSzPct val="90000"/>
              <a:buFont typeface="Arial"/>
              <a:buChar char="●"/>
            </a:pPr>
            <a:r>
              <a:rPr sz="1200">
                <a:solidFill>
                  <a:srgbClr val="444C70"/>
                </a:solidFill>
                <a:latin typeface="Calibri"/>
              </a:rPr>
              <a:t>Pay per token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566928"/>
            <a:ext cx="1105783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spc="220">
                <a:solidFill>
                  <a:srgbClr val="C99A3B"/>
                </a:solidFill>
                <a:latin typeface="Calibri"/>
              </a:rPr>
              <a:t>PART II —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96112"/>
            <a:ext cx="110578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000" b="1">
                <a:solidFill>
                  <a:srgbClr val="1A1A2E"/>
                </a:solidFill>
                <a:latin typeface="Georgia"/>
              </a:rPr>
              <a:t>Tokens/sec by GPU tier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spc="120">
                <a:solidFill>
                  <a:srgbClr val="9AA0AB"/>
                </a:solidFill>
                <a:latin typeface="Calibri"/>
              </a:rPr>
              <a:t>IANUSTEC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93247" y="641908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>
                <a:solidFill>
                  <a:srgbClr val="9AA0AB"/>
                </a:solidFill>
                <a:latin typeface="Calibri"/>
              </a:rPr>
              <a:t>6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66928" y="1947672"/>
          <a:ext cx="6492240" cy="428853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516367" y="2039112"/>
            <a:ext cx="410839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1A1A2E"/>
                </a:solidFill>
                <a:latin typeface="Georgia"/>
              </a:rPr>
              <a:t>Takeaway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16367" y="2679191"/>
            <a:ext cx="4108399" cy="35570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19456" indent="-164592">
              <a:lnSpc>
                <a:spcPct val="120000"/>
              </a:lnSpc>
              <a:spcAft>
                <a:spcPts val="900"/>
              </a:spcAft>
              <a:buClr>
                <a:srgbClr val="C99A3B"/>
              </a:buClr>
              <a:buSzPct val="90000"/>
              <a:buFont typeface="Arial"/>
              <a:buChar char="●"/>
            </a:pPr>
            <a:r>
              <a:rPr sz="1300">
                <a:solidFill>
                  <a:srgbClr val="444C70"/>
                </a:solidFill>
                <a:latin typeface="Calibri"/>
              </a:rPr>
              <a:t>H100 nearly triples 4090 throughput.</a:t>
            </a:r>
          </a:p>
          <a:p>
            <a:pPr marL="219456" indent="-164592">
              <a:lnSpc>
                <a:spcPct val="120000"/>
              </a:lnSpc>
              <a:spcAft>
                <a:spcPts val="900"/>
              </a:spcAft>
              <a:buClr>
                <a:srgbClr val="C99A3B"/>
              </a:buClr>
              <a:buSzPct val="90000"/>
              <a:buFont typeface="Arial"/>
              <a:buChar char="●"/>
            </a:pPr>
            <a:r>
              <a:rPr sz="1300">
                <a:solidFill>
                  <a:srgbClr val="444C70"/>
                </a:solidFill>
                <a:latin typeface="Calibri"/>
              </a:rPr>
              <a:t>L40S is the sweet spot for mid-size teams.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566928"/>
            <a:ext cx="1105783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spc="220">
                <a:solidFill>
                  <a:srgbClr val="C99A3B"/>
                </a:solidFill>
                <a:latin typeface="Calibri"/>
              </a:rPr>
              <a:t>PART II — ECONOMICS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96112"/>
            <a:ext cx="110578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000" b="1">
                <a:solidFill>
                  <a:srgbClr val="1A1A2E"/>
                </a:solidFill>
                <a:latin typeface="Georgia"/>
              </a:rPr>
              <a:t>Monthly cost: local vs.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spc="120">
                <a:solidFill>
                  <a:srgbClr val="9AA0AB"/>
                </a:solidFill>
                <a:latin typeface="Calibri"/>
              </a:rPr>
              <a:t>IANUSTEC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93247" y="641908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>
                <a:solidFill>
                  <a:srgbClr val="9AA0AB"/>
                </a:solidFill>
                <a:latin typeface="Calibri"/>
              </a:rPr>
              <a:t>7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66928" y="1947672"/>
          <a:ext cx="6492240" cy="428853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516367" y="2039112"/>
            <a:ext cx="410839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1A1A2E"/>
                </a:solidFill>
                <a:latin typeface="Georgia"/>
              </a:rPr>
              <a:t>Break-even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16367" y="2679191"/>
            <a:ext cx="4108399" cy="35570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19456" indent="-164592">
              <a:lnSpc>
                <a:spcPct val="120000"/>
              </a:lnSpc>
              <a:spcAft>
                <a:spcPts val="900"/>
              </a:spcAft>
              <a:buClr>
                <a:srgbClr val="C99A3B"/>
              </a:buClr>
              <a:buSzPct val="90000"/>
              <a:buFont typeface="Arial"/>
              <a:buChar char="●"/>
            </a:pPr>
            <a:r>
              <a:rPr sz="1300">
                <a:solidFill>
                  <a:srgbClr val="444C70"/>
                </a:solidFill>
                <a:latin typeface="Calibri"/>
              </a:rPr>
              <a:t>Self-hosting wins past moderate usage as API cost scales with traffic.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731520"/>
            <a:ext cx="110578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000" b="1">
                <a:solidFill>
                  <a:srgbClr val="1A1A2E"/>
                </a:solidFill>
                <a:latin typeface="Georgia"/>
              </a:rPr>
              <a:t>From prompt to answer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19088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spc="120">
                <a:solidFill>
                  <a:srgbClr val="9AA0AB"/>
                </a:solidFill>
                <a:latin typeface="Calibri"/>
              </a:rPr>
              <a:t>IANUSTEC ·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93247" y="641908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>
                <a:solidFill>
                  <a:srgbClr val="9AA0AB"/>
                </a:solidFill>
                <a:latin typeface="Calibri"/>
              </a:rPr>
              <a:t>8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9142" y="2574036"/>
            <a:ext cx="8533409" cy="27432"/>
          </a:xfrm>
          <a:prstGeom prst="rect">
            <a:avLst/>
          </a:prstGeom>
          <a:solidFill>
            <a:srgbClr val="E0E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542" y="2345436"/>
            <a:ext cx="457200" cy="457200"/>
          </a:xfrm>
          <a:prstGeom prst="ellipse">
            <a:avLst/>
          </a:prstGeom>
          <a:solidFill>
            <a:srgbClr val="C9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00542" y="2345436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866644"/>
            <a:ext cx="2524429" cy="2286000"/>
          </a:xfrm>
          <a:prstGeom prst="roundRect">
            <a:avLst>
              <a:gd name="adj" fmla="val 6000"/>
            </a:avLst>
          </a:prstGeom>
          <a:solidFill>
            <a:srgbClr val="F5F5F8"/>
          </a:solidFill>
          <a:ln w="12700">
            <a:solidFill>
              <a:srgbClr val="E0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3104387"/>
            <a:ext cx="204894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900" b="1" spc="100">
                <a:solidFill>
                  <a:srgbClr val="C99A3B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3415283"/>
            <a:ext cx="204894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1A1A2E"/>
                </a:solidFill>
                <a:latin typeface="Georgia"/>
              </a:rPr>
              <a:t>Ingest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3963923"/>
            <a:ext cx="2048941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100">
                <a:solidFill>
                  <a:srgbClr val="444C70"/>
                </a:solidFill>
                <a:latin typeface="Calibri"/>
              </a:rPr>
              <a:t>Open WebUI receives the chat request.</a:t>
            </a:r>
          </a:p>
        </p:txBody>
      </p:sp>
      <p:sp>
        <p:nvSpPr>
          <p:cNvPr id="12" name="Oval 11"/>
          <p:cNvSpPr/>
          <p:nvPr/>
        </p:nvSpPr>
        <p:spPr>
          <a:xfrm>
            <a:off x="4445012" y="2345436"/>
            <a:ext cx="457200" cy="457200"/>
          </a:xfrm>
          <a:prstGeom prst="ellipse">
            <a:avLst/>
          </a:prstGeom>
          <a:solidFill>
            <a:srgbClr val="C9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45012" y="2345436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11397" y="2866644"/>
            <a:ext cx="2524429" cy="2286000"/>
          </a:xfrm>
          <a:prstGeom prst="roundRect">
            <a:avLst>
              <a:gd name="adj" fmla="val 6000"/>
            </a:avLst>
          </a:prstGeom>
          <a:solidFill>
            <a:srgbClr val="F5F5F8"/>
          </a:solidFill>
          <a:ln w="12700">
            <a:solidFill>
              <a:srgbClr val="E0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49141" y="3104387"/>
            <a:ext cx="204894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900" b="1" spc="100">
                <a:solidFill>
                  <a:srgbClr val="C99A3B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49141" y="3415283"/>
            <a:ext cx="204894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1A1A2E"/>
                </a:solidFill>
                <a:latin typeface="Georgia"/>
              </a:rPr>
              <a:t>Route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49141" y="3963923"/>
            <a:ext cx="2048941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100">
                <a:solidFill>
                  <a:srgbClr val="444C70"/>
                </a:solidFill>
                <a:latin typeface="Calibri"/>
              </a:rPr>
              <a:t>Gateway picks the model + tools.</a:t>
            </a:r>
          </a:p>
        </p:txBody>
      </p:sp>
      <p:sp>
        <p:nvSpPr>
          <p:cNvPr id="18" name="Oval 17"/>
          <p:cNvSpPr/>
          <p:nvPr/>
        </p:nvSpPr>
        <p:spPr>
          <a:xfrm>
            <a:off x="7289482" y="2345436"/>
            <a:ext cx="457200" cy="457200"/>
          </a:xfrm>
          <a:prstGeom prst="ellipse">
            <a:avLst/>
          </a:prstGeom>
          <a:solidFill>
            <a:srgbClr val="C9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89482" y="2345436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55867" y="2866644"/>
            <a:ext cx="2524429" cy="2286000"/>
          </a:xfrm>
          <a:prstGeom prst="roundRect">
            <a:avLst>
              <a:gd name="adj" fmla="val 6000"/>
            </a:avLst>
          </a:prstGeom>
          <a:solidFill>
            <a:srgbClr val="F5F5F8"/>
          </a:solidFill>
          <a:ln w="12700">
            <a:solidFill>
              <a:srgbClr val="E0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3611" y="3104387"/>
            <a:ext cx="204894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900" b="1" spc="100">
                <a:solidFill>
                  <a:srgbClr val="C99A3B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3611" y="3415283"/>
            <a:ext cx="204894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1A1A2E"/>
                </a:solidFill>
                <a:latin typeface="Georgia"/>
              </a:rPr>
              <a:t>Infer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3611" y="3963923"/>
            <a:ext cx="2048941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100">
                <a:solidFill>
                  <a:srgbClr val="444C70"/>
                </a:solidFill>
                <a:latin typeface="Calibri"/>
              </a:rPr>
              <a:t>Local LLM runs on your GPUs.</a:t>
            </a:r>
          </a:p>
        </p:txBody>
      </p:sp>
      <p:sp>
        <p:nvSpPr>
          <p:cNvPr id="24" name="Oval 23"/>
          <p:cNvSpPr/>
          <p:nvPr/>
        </p:nvSpPr>
        <p:spPr>
          <a:xfrm>
            <a:off x="10133952" y="2345436"/>
            <a:ext cx="457200" cy="457200"/>
          </a:xfrm>
          <a:prstGeom prst="ellipse">
            <a:avLst/>
          </a:prstGeom>
          <a:solidFill>
            <a:srgbClr val="C9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33952" y="2345436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00337" y="2866644"/>
            <a:ext cx="2524429" cy="2286000"/>
          </a:xfrm>
          <a:prstGeom prst="roundRect">
            <a:avLst>
              <a:gd name="adj" fmla="val 6000"/>
            </a:avLst>
          </a:prstGeom>
          <a:solidFill>
            <a:srgbClr val="F5F5F8"/>
          </a:solidFill>
          <a:ln w="12700">
            <a:solidFill>
              <a:srgbClr val="E0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38081" y="3104387"/>
            <a:ext cx="204894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900" b="1" spc="100">
                <a:solidFill>
                  <a:srgbClr val="C99A3B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38081" y="3415283"/>
            <a:ext cx="204894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1A1A2E"/>
                </a:solidFill>
                <a:latin typeface="Georgia"/>
              </a:rPr>
              <a:t>Return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38081" y="3963923"/>
            <a:ext cx="2048941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100">
                <a:solidFill>
                  <a:srgbClr val="444C70"/>
                </a:solidFill>
                <a:latin typeface="Calibri"/>
              </a:rPr>
              <a:t>Streamed response with citations.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731520"/>
            <a:ext cx="110578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000" b="1">
                <a:solidFill>
                  <a:srgbClr val="1A1A2E"/>
                </a:solidFill>
                <a:latin typeface="Georgia"/>
              </a:rPr>
              <a:t>Adoption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19088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spc="120">
                <a:solidFill>
                  <a:srgbClr val="9AA0AB"/>
                </a:solidFill>
                <a:latin typeface="Calibri"/>
              </a:rPr>
              <a:t>IANUSTEC ·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93247" y="641908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>
                <a:solidFill>
                  <a:srgbClr val="9AA0AB"/>
                </a:solidFill>
                <a:latin typeface="Calibri"/>
              </a:rPr>
              <a:t>9</a:t>
            </a:r>
          </a:p>
        </p:txBody>
      </p:sp>
      <p:sp>
        <p:nvSpPr>
          <p:cNvPr id="5" name="Trapezoid 4"/>
          <p:cNvSpPr/>
          <p:nvPr/>
        </p:nvSpPr>
        <p:spPr>
          <a:xfrm rot="10800000">
            <a:off x="2255367" y="1920240"/>
            <a:ext cx="7680960" cy="822960"/>
          </a:xfrm>
          <a:prstGeom prst="trapezoid">
            <a:avLst>
              <a:gd name="adj" fmla="val 18000"/>
            </a:avLst>
          </a:prstGeom>
          <a:solidFill>
            <a:srgbClr val="C9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55367" y="1920240"/>
            <a:ext cx="7680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Pilot  ·  One team, one use case</a:t>
            </a:r>
          </a:p>
        </p:txBody>
      </p:sp>
      <p:sp>
        <p:nvSpPr>
          <p:cNvPr id="7" name="Trapezoid 6"/>
          <p:cNvSpPr/>
          <p:nvPr/>
        </p:nvSpPr>
        <p:spPr>
          <a:xfrm rot="10800000">
            <a:off x="2986887" y="2852928"/>
            <a:ext cx="6217920" cy="822960"/>
          </a:xfrm>
          <a:prstGeom prst="trapezoid">
            <a:avLst>
              <a:gd name="adj" fmla="val 18000"/>
            </a:avLst>
          </a:prstGeom>
          <a:solidFill>
            <a:srgbClr val="9074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86887" y="2852928"/>
            <a:ext cx="621792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Rollout  ·  SSO + shared models</a:t>
            </a:r>
          </a:p>
        </p:txBody>
      </p:sp>
      <p:sp>
        <p:nvSpPr>
          <p:cNvPr id="9" name="Trapezoid 8"/>
          <p:cNvSpPr/>
          <p:nvPr/>
        </p:nvSpPr>
        <p:spPr>
          <a:xfrm rot="10800000">
            <a:off x="3718407" y="3785616"/>
            <a:ext cx="4754880" cy="822960"/>
          </a:xfrm>
          <a:prstGeom prst="trapezoid">
            <a:avLst>
              <a:gd name="adj" fmla="val 18000"/>
            </a:avLst>
          </a:prstGeom>
          <a:solidFill>
            <a:srgbClr val="574D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18407" y="3785616"/>
            <a:ext cx="47548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Tools  ·  RAG, docs, automations</a:t>
            </a:r>
          </a:p>
        </p:txBody>
      </p:sp>
      <p:sp>
        <p:nvSpPr>
          <p:cNvPr id="11" name="Trapezoid 10"/>
          <p:cNvSpPr/>
          <p:nvPr/>
        </p:nvSpPr>
        <p:spPr>
          <a:xfrm rot="10800000">
            <a:off x="4449927" y="4718304"/>
            <a:ext cx="3291839" cy="822960"/>
          </a:xfrm>
          <a:prstGeom prst="trapezoid">
            <a:avLst>
              <a:gd name="adj" fmla="val 1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49927" y="4718304"/>
            <a:ext cx="3291839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Platform  ·  Org-wide AI layer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731520"/>
            <a:ext cx="110578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000" b="1">
                <a:solidFill>
                  <a:srgbClr val="1A1A2E"/>
                </a:solidFill>
                <a:latin typeface="Georgia"/>
              </a:rPr>
              <a:t>Reference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19088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spc="120">
                <a:solidFill>
                  <a:srgbClr val="9AA0AB"/>
                </a:solidFill>
                <a:latin typeface="Calibri"/>
              </a:rPr>
              <a:t>IANUSTEC ·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93247" y="641908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>
                <a:solidFill>
                  <a:srgbClr val="9AA0AB"/>
                </a:solidFill>
                <a:latin typeface="Calibri"/>
              </a:rPr>
              <a:t>10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828800"/>
          <a:ext cx="11057839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5946"/>
                <a:gridCol w="3685946"/>
                <a:gridCol w="3685947"/>
              </a:tblGrid>
              <a:tr h="49377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Layer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Component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Notes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UI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Open WebUI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Chat, tools, RAG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Serving</a:t>
                      </a:r>
                    </a:p>
                  </a:txBody>
                  <a:tcPr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vLLM / Ollama</a:t>
                      </a:r>
                    </a:p>
                  </a:txBody>
                  <a:tcPr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OpenAI-compatible API</a:t>
                      </a:r>
                    </a:p>
                  </a:txBody>
                  <a:tcPr>
                    <a:solidFill>
                      <a:srgbClr val="F5F5F8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Models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Llama / Qwen / Mistral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Quantized for GPU fit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Infra</a:t>
                      </a:r>
                    </a:p>
                  </a:txBody>
                  <a:tcPr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Kubernetes + GPU</a:t>
                      </a:r>
                    </a:p>
                  </a:txBody>
                  <a:tcPr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Autoscaling workers</a:t>
                      </a:r>
                    </a:p>
                  </a:txBody>
                  <a:tcPr>
                    <a:solidFill>
                      <a:srgbClr val="F5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A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280160" y="-1280160"/>
            <a:ext cx="3108960" cy="3108960"/>
          </a:xfrm>
          <a:prstGeom prst="ellipse">
            <a:avLst/>
          </a:prstGeom>
          <a:solidFill>
            <a:srgbClr val="222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822960"/>
            <a:ext cx="18288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1000" b="1">
                <a:solidFill>
                  <a:srgbClr val="C99A3B"/>
                </a:solidFill>
                <a:latin typeface="Georgia"/>
              </a:rPr>
              <a:t>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194560"/>
            <a:ext cx="9686239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Aft>
                <a:spcPts val="0"/>
              </a:spcAft>
            </a:pPr>
            <a:r>
              <a:rPr sz="2700" i="1">
                <a:solidFill>
                  <a:srgbClr val="FFFFFF"/>
                </a:solidFill>
                <a:latin typeface="Georgia"/>
              </a:rPr>
              <a:t>Own your models, own your data, own your roadmap.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212080"/>
            <a:ext cx="8229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sz="1500" b="1">
                <a:solidFill>
                  <a:srgbClr val="C99A3B"/>
                </a:solidFill>
                <a:latin typeface="Calibri"/>
              </a:rPr>
              <a:t>— Platform Engineering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8A8CA2"/>
                </a:solidFill>
                <a:latin typeface="Calibri"/>
              </a:rPr>
              <a:t>IANUSTEC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19088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spc="120">
                <a:solidFill>
                  <a:srgbClr val="8A8CA2"/>
                </a:solidFill>
                <a:latin typeface="Calibri"/>
              </a:rPr>
              <a:t>IANUSTEC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93247" y="641908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>
                <a:solidFill>
                  <a:srgbClr val="8A8CA2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731520"/>
            <a:ext cx="110578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000" b="1">
                <a:solidFill>
                  <a:srgbClr val="1A1A2E"/>
                </a:solidFill>
                <a:latin typeface="Georgia"/>
              </a:rPr>
              <a:t>Ops tip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19088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spc="120">
                <a:solidFill>
                  <a:srgbClr val="9AA0AB"/>
                </a:solidFill>
                <a:latin typeface="Calibri"/>
              </a:rPr>
              <a:t>IANUSTEC ·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93247" y="641908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>
                <a:solidFill>
                  <a:srgbClr val="9AA0AB"/>
                </a:solidFill>
                <a:latin typeface="Calibri"/>
              </a:rPr>
              <a:t>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2011680"/>
            <a:ext cx="11057839" cy="1371600"/>
          </a:xfrm>
          <a:prstGeom prst="roundRect">
            <a:avLst>
              <a:gd name="adj" fmla="val 5000"/>
            </a:avLst>
          </a:prstGeom>
          <a:solidFill>
            <a:srgbClr val="E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2011680"/>
            <a:ext cx="91440" cy="13716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69848" y="2263140"/>
            <a:ext cx="868680" cy="868680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3078" y="2506370"/>
            <a:ext cx="382219" cy="38221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395728" y="2011680"/>
            <a:ext cx="8680399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35000"/>
              </a:lnSpc>
              <a:spcAft>
                <a:spcPts val="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Start with a single quantized model behind vLLM and measure tokens/sec under real load before scaling out GPUs. Right-size, then replicate.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A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448495" y="-1828800"/>
            <a:ext cx="4754880" cy="4754880"/>
          </a:xfrm>
          <a:prstGeom prst="ellipse">
            <a:avLst/>
          </a:prstGeom>
          <a:solidFill>
            <a:srgbClr val="24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277295" y="4206240"/>
            <a:ext cx="2743200" cy="2743200"/>
          </a:xfrm>
          <a:prstGeom prst="ellipse">
            <a:avLst/>
          </a:prstGeom>
          <a:solidFill>
            <a:srgbClr val="C99A3B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80160"/>
            <a:ext cx="1105783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spc="220">
                <a:solidFill>
                  <a:srgbClr val="C99A3B"/>
                </a:solidFill>
                <a:latin typeface="Calibri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691640"/>
            <a:ext cx="8686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3000"/>
              </a:lnSpc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Georgia"/>
              </a:rPr>
              <a:t>Build it open, run it yours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200400"/>
            <a:ext cx="777240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19456" indent="-164592">
              <a:lnSpc>
                <a:spcPct val="112000"/>
              </a:lnSpc>
              <a:spcAft>
                <a:spcPts val="1000"/>
              </a:spcAft>
              <a:buClr>
                <a:srgbClr val="C99A3B"/>
              </a:buClr>
              <a:buSzPct val="90000"/>
              <a:buFont typeface="Arial"/>
              <a:buChar char="●"/>
            </a:pPr>
            <a:r>
              <a:rPr sz="1500">
                <a:solidFill>
                  <a:srgbClr val="BDBFCB"/>
                </a:solidFill>
                <a:latin typeface="Calibri"/>
              </a:rPr>
              <a:t>Self-hosting pays off as usage grows.</a:t>
            </a:r>
          </a:p>
          <a:p>
            <a:pPr marL="219456" indent="-164592">
              <a:lnSpc>
                <a:spcPct val="112000"/>
              </a:lnSpc>
              <a:spcAft>
                <a:spcPts val="1000"/>
              </a:spcAft>
              <a:buClr>
                <a:srgbClr val="C99A3B"/>
              </a:buClr>
              <a:buSzPct val="90000"/>
              <a:buFont typeface="Arial"/>
              <a:buChar char="●"/>
            </a:pPr>
            <a:r>
              <a:rPr sz="1500">
                <a:solidFill>
                  <a:srgbClr val="BDBFCB"/>
                </a:solidFill>
                <a:latin typeface="Calibri"/>
              </a:rPr>
              <a:t>Open WebUI + tools = a real AI platform.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85216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C99A3B"/>
                </a:solidFill>
                <a:latin typeface="Calibri"/>
              </a:rPr>
              <a:t>hello@ianustec.com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spc="120">
                <a:solidFill>
                  <a:srgbClr val="8A8CA2"/>
                </a:solidFill>
                <a:latin typeface="Calibri"/>
              </a:rPr>
              <a:t>IANUSTEC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3247" y="641908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>
                <a:solidFill>
                  <a:srgbClr val="8A8CA2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