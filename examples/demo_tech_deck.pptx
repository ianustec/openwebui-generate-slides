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Valore</c:v>
                </c:pt>
              </c:strCache>
            </c:strRef>
          </c:tx>
          <c:spPr>
            <a:solidFill>
              <a:srgbClr val="C99A3B"/>
            </a:solidFill>
          </c:spPr>
          <c:cat>
            <c:strRef>
              <c:f>Sheet1!$A$2:$A$5</c:f>
              <c:strCache>
                <c:ptCount val="4"/>
                <c:pt idx="0">
                  <c:v>RTX 4090</c:v>
                </c:pt>
                <c:pt idx="1">
                  <c:v>L40S</c:v>
                </c:pt>
                <c:pt idx="2">
                  <c:v>A100 80GB</c:v>
                </c:pt>
                <c:pt idx="3">
                  <c:v>H100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78.0</c:v>
                </c:pt>
                <c:pt idx="1">
                  <c:v>96.0</c:v>
                </c:pt>
                <c:pt idx="2">
                  <c:v>132.0</c:v>
                </c:pt>
                <c:pt idx="3">
                  <c:v>210.0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000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4E7EC"/>
            </a:solidFill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E7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Self-hosted</c:v>
                </c:pt>
              </c:strCache>
            </c:strRef>
          </c:tx>
          <c:spPr>
            <a:solidFill>
              <a:srgbClr val="C99A3B"/>
            </a:solidFill>
            <a:ln w="31750">
              <a:solidFill>
                <a:srgbClr val="C99A3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4200.0</c:v>
                </c:pt>
                <c:pt idx="1">
                  <c:v>4200.0</c:v>
                </c:pt>
                <c:pt idx="2">
                  <c:v>4400.0</c:v>
                </c:pt>
                <c:pt idx="3">
                  <c:v>4400.0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Hosted API</c:v>
                </c:pt>
              </c:strCache>
            </c:strRef>
          </c:tx>
          <c:spPr>
            <a:solidFill>
              <a:srgbClr val="1E2761"/>
            </a:solidFill>
            <a:ln w="31750">
              <a:solidFill>
                <a:srgbClr val="1E276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3100.0</c:v>
                </c:pt>
                <c:pt idx="1">
                  <c:v>5200.0</c:v>
                </c:pt>
                <c:pt idx="2">
                  <c:v>8600.0</c:v>
                </c:pt>
                <c:pt idx="3">
                  <c:v>13800.0</c:v>
                </c:pt>
              </c:numCache>
            </c:numRef>
          </c:val>
          <c:smooth/>
        </c:ser>
        <c:dLbls>
          <c:numFmt formatCode="General" sourceLinked="0"/>
          <c:txPr>
            <a:bodyPr/>
            <a:lstStyle/>
            <a:p>
              <a:pPr>
                <a:defRPr sz="1000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4E7EC"/>
            </a:solidFill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4E7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444C70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65615" y="-1828800"/>
            <a:ext cx="5120640" cy="5120640"/>
          </a:xfrm>
          <a:prstGeom prst="ellipse">
            <a:avLst/>
          </a:prstGeom>
          <a:solidFill>
            <a:srgbClr val="27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85855" y="3840480"/>
            <a:ext cx="3108960" cy="3108960"/>
          </a:xfrm>
          <a:prstGeom prst="ellipse">
            <a:avLst/>
          </a:prstGeom>
          <a:solidFill>
            <a:srgbClr val="20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68335" y="4754880"/>
            <a:ext cx="1645920" cy="1645920"/>
          </a:xfrm>
          <a:prstGeom prst="ellipse">
            <a:avLst/>
          </a:prstGeom>
          <a:solidFill>
            <a:srgbClr val="C99A3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640080"/>
            <a:ext cx="868680" cy="868680"/>
          </a:xfrm>
          <a:prstGeom prst="ellipse">
            <a:avLst/>
          </a:prstGeom>
          <a:solidFill>
            <a:srgbClr val="30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" y="883310"/>
            <a:ext cx="382219" cy="3822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TECH BRIEF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79552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Georgia"/>
              </a:rPr>
              <a:t>Self-Hosted AI in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4340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>
                <a:solidFill>
                  <a:srgbClr val="BDBFCB"/>
                </a:solidFill>
                <a:latin typeface="Calibri"/>
              </a:rPr>
              <a:t>How teams ship local LLMs with Open WebUI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53212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53212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Local LLMs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5688" y="553212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5688" y="5532120"/>
            <a:ext cx="1577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Privacy-first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17620" y="5532120"/>
            <a:ext cx="1421892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7620" y="5532120"/>
            <a:ext cx="14218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Open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8A8CA2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14255" y="-1463040"/>
            <a:ext cx="4206240" cy="4206240"/>
          </a:xfrm>
          <a:prstGeom prst="ellipse">
            <a:avLst/>
          </a:prstGeom>
          <a:solidFill>
            <a:srgbClr val="24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00" b="1">
                <a:solidFill>
                  <a:srgbClr val="C99A3B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0896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920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BDBFCB"/>
                </a:solidFill>
                <a:latin typeface="Calibri"/>
              </a:rPr>
              <a:t>Control, privacy and cost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 —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The case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-63%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Inference cost vs. hosted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at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4794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9114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9114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Data stays on your infra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9114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no egress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2660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6980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8ms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6980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Median network hop (LAN)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6980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vs 120ms cloud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What you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229" y="2272101"/>
            <a:ext cx="265541" cy="2655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Data control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Prompts and documents never leave your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3874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855" y="2272101"/>
            <a:ext cx="265541" cy="2655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33874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Predictable cost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Fixed GPU spend instead of per-token billing.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2180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26500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481" y="2272101"/>
            <a:ext cx="265541" cy="2655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6500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Full customization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Swap models, add tools, tune the stack.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 —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Local vs. Hosted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1"/>
            <a:ext cx="5346039" cy="4197096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>
            <a:outerShdw blurRad="127000" dist="38100" dir="5400000" rotWithShape="0">
              <a:srgbClr val="1A1A2E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2707" y="1828799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2707" y="182879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spc="120">
                <a:solidFill>
                  <a:srgbClr val="FFFFFF"/>
                </a:solidFill>
                <a:latin typeface="Calibri"/>
              </a:rPr>
              <a:t>RECOMMENDED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322575"/>
            <a:ext cx="603504" cy="603504"/>
          </a:xfrm>
          <a:prstGeom prst="ellipse">
            <a:avLst/>
          </a:prstGeom>
          <a:solidFill>
            <a:srgbClr val="3E4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093" y="2491557"/>
            <a:ext cx="265541" cy="2655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0784" y="2322575"/>
            <a:ext cx="388299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18687"/>
            <a:ext cx="4687671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Data sovereignty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Flat GPU cost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Offline capable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Model freedom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993391"/>
            <a:ext cx="5346039" cy="4197096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07911" y="2322575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892" y="2491557"/>
            <a:ext cx="265541" cy="2655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12583" y="2322575"/>
            <a:ext cx="388299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1A1A2E"/>
                </a:solidFill>
                <a:latin typeface="Georgia"/>
              </a:rPr>
              <a:t>Hosted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7911" y="3218687"/>
            <a:ext cx="4687671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Zero ops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Instant scale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Latest frontier models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Pay per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II —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Tokens/sec by GPU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47672"/>
          <a:ext cx="6492240" cy="4288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16367" y="2039112"/>
            <a:ext cx="41083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A1A2E"/>
                </a:solidFill>
                <a:latin typeface="Georgia"/>
              </a:rP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7" y="2679191"/>
            <a:ext cx="4108399" cy="355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H100 nearly triples 4090 throughput.</a:t>
            </a:r>
          </a:p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L40S is the sweet spot for mid-size teams.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II —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Monthly cost: local vs.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47672"/>
          <a:ext cx="6492240" cy="4288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16367" y="2039112"/>
            <a:ext cx="41083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A1A2E"/>
                </a:solidFill>
                <a:latin typeface="Georgia"/>
              </a:rPr>
              <a:t>Break-even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7" y="2679191"/>
            <a:ext cx="4108399" cy="355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Self-hosting wins past moderate usage as API cost scales with traffic.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From prompt to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9142" y="2574036"/>
            <a:ext cx="8533409" cy="27432"/>
          </a:xfrm>
          <a:prstGeom prst="rect">
            <a:avLst/>
          </a:prstGeom>
          <a:solidFill>
            <a:srgbClr val="E0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54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54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Open WebUI receives the chat request.</a:t>
            </a:r>
          </a:p>
        </p:txBody>
      </p:sp>
      <p:sp>
        <p:nvSpPr>
          <p:cNvPr id="12" name="Oval 11"/>
          <p:cNvSpPr/>
          <p:nvPr/>
        </p:nvSpPr>
        <p:spPr>
          <a:xfrm>
            <a:off x="444501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501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139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914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914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914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Gateway picks the model + tools.</a:t>
            </a:r>
          </a:p>
        </p:txBody>
      </p:sp>
      <p:sp>
        <p:nvSpPr>
          <p:cNvPr id="18" name="Oval 17"/>
          <p:cNvSpPr/>
          <p:nvPr/>
        </p:nvSpPr>
        <p:spPr>
          <a:xfrm>
            <a:off x="728948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948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361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361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Infer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361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Local LLM runs on your GPUs.</a:t>
            </a:r>
          </a:p>
        </p:txBody>
      </p:sp>
      <p:sp>
        <p:nvSpPr>
          <p:cNvPr id="24" name="Oval 23"/>
          <p:cNvSpPr/>
          <p:nvPr/>
        </p:nvSpPr>
        <p:spPr>
          <a:xfrm>
            <a:off x="1013395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395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033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808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808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808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Streamed response with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Adoption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9</a:t>
            </a:r>
          </a:p>
        </p:txBody>
      </p:sp>
      <p:sp>
        <p:nvSpPr>
          <p:cNvPr id="5" name="Trapezoid 4"/>
          <p:cNvSpPr/>
          <p:nvPr/>
        </p:nvSpPr>
        <p:spPr>
          <a:xfrm rot="10800000">
            <a:off x="2255367" y="1920240"/>
            <a:ext cx="7680960" cy="822960"/>
          </a:xfrm>
          <a:prstGeom prst="trapezoid">
            <a:avLst>
              <a:gd name="adj" fmla="val 18000"/>
            </a:avLst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192024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Pilot  ·  One team, one use case</a:t>
            </a:r>
          </a:p>
        </p:txBody>
      </p:sp>
      <p:sp>
        <p:nvSpPr>
          <p:cNvPr id="7" name="Trapezoid 6"/>
          <p:cNvSpPr/>
          <p:nvPr/>
        </p:nvSpPr>
        <p:spPr>
          <a:xfrm rot="10800000">
            <a:off x="2986887" y="2852928"/>
            <a:ext cx="6217920" cy="822960"/>
          </a:xfrm>
          <a:prstGeom prst="trapezoid">
            <a:avLst>
              <a:gd name="adj" fmla="val 18000"/>
            </a:avLst>
          </a:prstGeom>
          <a:solidFill>
            <a:srgbClr val="907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887" y="28529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Rollout  ·  SSO + shared models</a:t>
            </a:r>
          </a:p>
        </p:txBody>
      </p:sp>
      <p:sp>
        <p:nvSpPr>
          <p:cNvPr id="9" name="Trapezoid 8"/>
          <p:cNvSpPr/>
          <p:nvPr/>
        </p:nvSpPr>
        <p:spPr>
          <a:xfrm rot="10800000">
            <a:off x="3718407" y="3785616"/>
            <a:ext cx="4754880" cy="822960"/>
          </a:xfrm>
          <a:prstGeom prst="trapezoid">
            <a:avLst>
              <a:gd name="adj" fmla="val 18000"/>
            </a:avLst>
          </a:prstGeom>
          <a:solidFill>
            <a:srgbClr val="574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8407" y="3785616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Tools  ·  RAG, docs, automations</a:t>
            </a:r>
          </a:p>
        </p:txBody>
      </p:sp>
      <p:sp>
        <p:nvSpPr>
          <p:cNvPr id="11" name="Trapezoid 10"/>
          <p:cNvSpPr/>
          <p:nvPr/>
        </p:nvSpPr>
        <p:spPr>
          <a:xfrm rot="10800000">
            <a:off x="4449927" y="4718304"/>
            <a:ext cx="3291839" cy="822960"/>
          </a:xfrm>
          <a:prstGeom prst="trapezoid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9927" y="4718304"/>
            <a:ext cx="3291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Platform  ·  Org-wide AI layer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Reference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0578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946"/>
                <a:gridCol w="3685946"/>
                <a:gridCol w="3685947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Open WebUI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Chat, tools,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Serving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vLLM / Ollama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OpenAI-compatible API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Llama / Qwen / Mistral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Quantized for GPU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Infra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Kubernetes + GPU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Autoscaling workers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280160" y="-1280160"/>
            <a:ext cx="3108960" cy="3108960"/>
          </a:xfrm>
          <a:prstGeom prst="ellipse">
            <a:avLst/>
          </a:prstGeom>
          <a:solidFill>
            <a:srgbClr val="22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0" b="1">
                <a:solidFill>
                  <a:srgbClr val="C99A3B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94560"/>
            <a:ext cx="968623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2700" i="1">
                <a:solidFill>
                  <a:srgbClr val="FFFFFF"/>
                </a:solidFill>
                <a:latin typeface="Georgia"/>
              </a:rPr>
              <a:t>Own your models, own your data, own your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C99A3B"/>
                </a:solidFill>
                <a:latin typeface="Calibri"/>
              </a:rPr>
              <a:t>— Platform Engineering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8A8CA2"/>
                </a:solidFill>
                <a:latin typeface="Calibri"/>
              </a:rPr>
              <a:t>IANUSTEC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Ops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E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91440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" y="2263140"/>
            <a:ext cx="868680" cy="86868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078" y="2506370"/>
            <a:ext cx="382219" cy="3822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95728" y="201168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Start with a single quantized model behind vLLM and measure tokens/sec under real load before scaling out GPUs. Right-size, then replicate.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48495" y="-1828800"/>
            <a:ext cx="4754880" cy="4754880"/>
          </a:xfrm>
          <a:prstGeom prst="ellipse">
            <a:avLst/>
          </a:prstGeom>
          <a:solidFill>
            <a:srgbClr val="24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77295" y="4206240"/>
            <a:ext cx="2743200" cy="2743200"/>
          </a:xfrm>
          <a:prstGeom prst="ellipse">
            <a:avLst/>
          </a:prstGeom>
          <a:solidFill>
            <a:srgbClr val="C99A3B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Build it open, run it yours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004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10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500">
                <a:solidFill>
                  <a:srgbClr val="BDBFCB"/>
                </a:solidFill>
                <a:latin typeface="Calibri"/>
              </a:rPr>
              <a:t>Self-hosting pays off as usage grows.</a:t>
            </a:r>
          </a:p>
          <a:p>
            <a:pPr marL="219456" indent="-164592">
              <a:lnSpc>
                <a:spcPct val="112000"/>
              </a:lnSpc>
              <a:spcAft>
                <a:spcPts val="10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500">
                <a:solidFill>
                  <a:srgbClr val="BDBFCB"/>
                </a:solidFill>
                <a:latin typeface="Calibri"/>
              </a:rPr>
              <a:t>Open WebUI + tools = a real AI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852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C99A3B"/>
                </a:solidFill>
                <a:latin typeface="Calibri"/>
              </a:rPr>
              <a:t>hello@ianustec.com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